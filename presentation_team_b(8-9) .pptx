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10287000" cx="18288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81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-660" l="0" r="0" t="-670"/>
            </a:stretch>
          </a:blipFill>
          <a:ln>
            <a:noFill/>
          </a:ln>
        </p:spPr>
      </p:sp>
      <p:grpSp>
        <p:nvGrpSpPr>
          <p:cNvPr id="75" name="Google Shape;75;p1"/>
          <p:cNvGrpSpPr/>
          <p:nvPr/>
        </p:nvGrpSpPr>
        <p:grpSpPr>
          <a:xfrm>
            <a:off x="0" y="-28575"/>
            <a:ext cx="18288000" cy="10315575"/>
            <a:chOff x="0" y="-38100"/>
            <a:chExt cx="24384000" cy="13754100"/>
          </a:xfrm>
        </p:grpSpPr>
        <p:sp>
          <p:nvSpPr>
            <p:cNvPr id="76" name="Google Shape;76;p1"/>
            <p:cNvSpPr/>
            <p:nvPr/>
          </p:nvSpPr>
          <p:spPr>
            <a:xfrm>
              <a:off x="0" y="0"/>
              <a:ext cx="24384000" cy="13716000"/>
            </a:xfrm>
            <a:custGeom>
              <a:rect b="b" l="l" r="r" t="t"/>
              <a:pathLst>
                <a:path extrusionOk="0"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811">
                <a:alpha val="47840"/>
              </a:srgbClr>
            </a:solidFill>
            <a:ln>
              <a:noFill/>
            </a:ln>
          </p:spPr>
        </p:sp>
        <p:sp>
          <p:nvSpPr>
            <p:cNvPr id="77" name="Google Shape;77;p1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" name="Google Shape;78;p1"/>
          <p:cNvGrpSpPr/>
          <p:nvPr/>
        </p:nvGrpSpPr>
        <p:grpSpPr>
          <a:xfrm>
            <a:off x="914400" y="1590675"/>
            <a:ext cx="57150" cy="5743575"/>
            <a:chOff x="0" y="-38100"/>
            <a:chExt cx="76200" cy="7658100"/>
          </a:xfrm>
        </p:grpSpPr>
        <p:sp>
          <p:nvSpPr>
            <p:cNvPr id="79" name="Google Shape;79;p1"/>
            <p:cNvSpPr/>
            <p:nvPr/>
          </p:nvSpPr>
          <p:spPr>
            <a:xfrm>
              <a:off x="0" y="0"/>
              <a:ext cx="76200" cy="7620000"/>
            </a:xfrm>
            <a:custGeom>
              <a:rect b="b" l="l" r="r" t="t"/>
              <a:pathLst>
                <a:path extrusionOk="0" h="7620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00"/>
                  </a:lnTo>
                  <a:lnTo>
                    <a:pt x="0" y="7620000"/>
                  </a:lnTo>
                  <a:close/>
                </a:path>
              </a:pathLst>
            </a:custGeom>
            <a:solidFill>
              <a:srgbClr val="35E7FF"/>
            </a:solidFill>
            <a:ln>
              <a:noFill/>
            </a:ln>
          </p:spPr>
        </p:sp>
        <p:sp>
          <p:nvSpPr>
            <p:cNvPr id="80" name="Google Shape;80;p1"/>
            <p:cNvSpPr txBox="1"/>
            <p:nvPr/>
          </p:nvSpPr>
          <p:spPr>
            <a:xfrm>
              <a:off x="0" y="-38100"/>
              <a:ext cx="76200" cy="765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" name="Google Shape;81;p1"/>
          <p:cNvSpPr txBox="1"/>
          <p:nvPr/>
        </p:nvSpPr>
        <p:spPr>
          <a:xfrm>
            <a:off x="1333500" y="1590675"/>
            <a:ext cx="6667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5E7FF"/>
                </a:solidFill>
                <a:latin typeface="IBM Plex Mono"/>
                <a:ea typeface="IBM Plex Mono"/>
                <a:cs typeface="IBM Plex Mono"/>
                <a:sym typeface="IBM Plex Mono"/>
              </a:rPr>
              <a:t>ENTERPRISE CYBER DEFENSE / 2026</a:t>
            </a:r>
            <a:endParaRPr/>
          </a:p>
        </p:txBody>
      </p:sp>
      <p:sp>
        <p:nvSpPr>
          <p:cNvPr id="82" name="Google Shape;82;p1"/>
          <p:cNvSpPr txBox="1"/>
          <p:nvPr/>
        </p:nvSpPr>
        <p:spPr>
          <a:xfrm>
            <a:off x="1333500" y="2562225"/>
            <a:ext cx="14416200" cy="3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50">
                <a:solidFill>
                  <a:srgbClr val="F4FBFF"/>
                </a:solidFill>
                <a:latin typeface="Rajdhani"/>
                <a:ea typeface="Rajdhani"/>
                <a:cs typeface="Rajdhani"/>
                <a:sym typeface="Rajdhani"/>
              </a:rPr>
              <a:t>Creation of Security Operations Dashboard for Threat Detection with Risk Mitigation Analytics</a:t>
            </a:r>
            <a:endParaRPr/>
          </a:p>
        </p:txBody>
      </p:sp>
      <p:sp>
        <p:nvSpPr>
          <p:cNvPr id="83" name="Google Shape;83;p1"/>
          <p:cNvSpPr txBox="1"/>
          <p:nvPr/>
        </p:nvSpPr>
        <p:spPr>
          <a:xfrm>
            <a:off x="1371600" y="5781675"/>
            <a:ext cx="8096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Centralized Cybersecurity Threat Analysis Platform</a:t>
            </a:r>
            <a:endParaRPr/>
          </a:p>
        </p:txBody>
      </p:sp>
      <p:sp>
        <p:nvSpPr>
          <p:cNvPr id="84" name="Google Shape;84;p1"/>
          <p:cNvSpPr txBox="1"/>
          <p:nvPr/>
        </p:nvSpPr>
        <p:spPr>
          <a:xfrm>
            <a:off x="1371600" y="8143875"/>
            <a:ext cx="68580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5E7FF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2026-08-18  |  PROFESSIONAL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04825"/>
            <a:ext cx="685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  /  THREAT INTELLIGENCE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57275"/>
            <a:ext cx="142875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One interface. Every signal.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647825"/>
            <a:ext cx="11430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A web-based platform that turns fragmented security inputs into explainable, actionable threat intelligence.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22669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3333750"/>
            <a:ext cx="2362200" cy="2000250"/>
            <a:chOff x="0" y="0"/>
            <a:chExt cx="3149600" cy="266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496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3149600">
                  <a:moveTo>
                    <a:pt x="0" y="0"/>
                  </a:moveTo>
                  <a:lnTo>
                    <a:pt x="3149600" y="0"/>
                  </a:lnTo>
                  <a:lnTo>
                    <a:pt x="31496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496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3333750"/>
            <a:ext cx="38100" cy="2000250"/>
            <a:chOff x="0" y="0"/>
            <a:chExt cx="50800" cy="266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08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600450" y="3333750"/>
            <a:ext cx="2362200" cy="2000250"/>
            <a:chOff x="0" y="0"/>
            <a:chExt cx="3149600" cy="266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496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3149600">
                  <a:moveTo>
                    <a:pt x="0" y="0"/>
                  </a:moveTo>
                  <a:lnTo>
                    <a:pt x="3149600" y="0"/>
                  </a:lnTo>
                  <a:lnTo>
                    <a:pt x="31496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496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600450" y="3333750"/>
            <a:ext cx="38100" cy="2000250"/>
            <a:chOff x="0" y="0"/>
            <a:chExt cx="50800" cy="266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8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08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286500" y="3333750"/>
            <a:ext cx="2362200" cy="2000250"/>
            <a:chOff x="0" y="0"/>
            <a:chExt cx="3149600" cy="266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496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3149600">
                  <a:moveTo>
                    <a:pt x="0" y="0"/>
                  </a:moveTo>
                  <a:lnTo>
                    <a:pt x="3149600" y="0"/>
                  </a:lnTo>
                  <a:lnTo>
                    <a:pt x="31496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496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286500" y="3333750"/>
            <a:ext cx="38100" cy="2000250"/>
            <a:chOff x="0" y="0"/>
            <a:chExt cx="50800" cy="2667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8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08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972550" y="3333750"/>
            <a:ext cx="2362200" cy="2000250"/>
            <a:chOff x="0" y="0"/>
            <a:chExt cx="3149600" cy="2667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496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3149600">
                  <a:moveTo>
                    <a:pt x="0" y="0"/>
                  </a:moveTo>
                  <a:lnTo>
                    <a:pt x="3149600" y="0"/>
                  </a:lnTo>
                  <a:lnTo>
                    <a:pt x="31496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1496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972550" y="3333750"/>
            <a:ext cx="38100" cy="2000250"/>
            <a:chOff x="0" y="0"/>
            <a:chExt cx="50800" cy="2667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8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08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658600" y="3333750"/>
            <a:ext cx="2362200" cy="2000250"/>
            <a:chOff x="0" y="0"/>
            <a:chExt cx="3149600" cy="2667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496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3149600">
                  <a:moveTo>
                    <a:pt x="0" y="0"/>
                  </a:moveTo>
                  <a:lnTo>
                    <a:pt x="3149600" y="0"/>
                  </a:lnTo>
                  <a:lnTo>
                    <a:pt x="31496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1496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658600" y="3333750"/>
            <a:ext cx="38100" cy="2000250"/>
            <a:chOff x="0" y="0"/>
            <a:chExt cx="50800" cy="2667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8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08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344650" y="3333750"/>
            <a:ext cx="2362200" cy="2000250"/>
            <a:chOff x="0" y="0"/>
            <a:chExt cx="3149600" cy="2667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496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3149600">
                  <a:moveTo>
                    <a:pt x="0" y="0"/>
                  </a:moveTo>
                  <a:lnTo>
                    <a:pt x="3149600" y="0"/>
                  </a:lnTo>
                  <a:lnTo>
                    <a:pt x="31496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1496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344650" y="3333750"/>
            <a:ext cx="38100" cy="2000250"/>
            <a:chOff x="0" y="0"/>
            <a:chExt cx="50800" cy="2667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8B5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08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81100" y="3619500"/>
            <a:ext cx="1809750" cy="1196340"/>
            <a:chOff x="0" y="0"/>
            <a:chExt cx="2413000" cy="1595120"/>
          </a:xfrm>
        </p:grpSpPr>
        <p:sp>
          <p:nvSpPr>
            <p:cNvPr name="TextBox 43" id="43"/>
            <p:cNvSpPr txBox="true"/>
            <p:nvPr/>
          </p:nvSpPr>
          <p:spPr>
            <a:xfrm rot="0">
              <a:off x="0" y="38100"/>
              <a:ext cx="1016000" cy="529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2"/>
                </a:lnSpc>
              </a:pPr>
              <a:r>
                <a:rPr lang="en-US" sz="2850" b="true">
                  <a:solidFill>
                    <a:srgbClr val="35E7FF"/>
                  </a:solidFill>
                  <a:latin typeface="Rajdhani Bold"/>
                  <a:ea typeface="Rajdhani Bold"/>
                  <a:cs typeface="Rajdhani Bold"/>
                  <a:sym typeface="Rajdhani Bold"/>
                </a:rPr>
                <a:t>01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0" y="1231900"/>
              <a:ext cx="2413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35E7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URL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867150" y="3619500"/>
            <a:ext cx="1809750" cy="1196340"/>
            <a:chOff x="0" y="0"/>
            <a:chExt cx="2413000" cy="1595120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0" y="38100"/>
              <a:ext cx="1016000" cy="529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2"/>
                </a:lnSpc>
              </a:pPr>
              <a:r>
                <a:rPr lang="en-US" sz="2850" b="true">
                  <a:solidFill>
                    <a:srgbClr val="35E7FF"/>
                  </a:solidFill>
                  <a:latin typeface="Rajdhani Bold"/>
                  <a:ea typeface="Rajdhani Bold"/>
                  <a:cs typeface="Rajdhani Bold"/>
                  <a:sym typeface="Rajdhani Bold"/>
                </a:rPr>
                <a:t>02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0" y="1231900"/>
              <a:ext cx="2413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35E7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IP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553200" y="3619500"/>
            <a:ext cx="1809750" cy="1196340"/>
            <a:chOff x="0" y="0"/>
            <a:chExt cx="2413000" cy="1595120"/>
          </a:xfrm>
        </p:grpSpPr>
        <p:sp>
          <p:nvSpPr>
            <p:cNvPr name="TextBox 49" id="49"/>
            <p:cNvSpPr txBox="true"/>
            <p:nvPr/>
          </p:nvSpPr>
          <p:spPr>
            <a:xfrm rot="0">
              <a:off x="0" y="38100"/>
              <a:ext cx="1016000" cy="529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2"/>
                </a:lnSpc>
              </a:pPr>
              <a:r>
                <a:rPr lang="en-US" sz="2850" b="true">
                  <a:solidFill>
                    <a:srgbClr val="35E7FF"/>
                  </a:solidFill>
                  <a:latin typeface="Rajdhani Bold"/>
                  <a:ea typeface="Rajdhani Bold"/>
                  <a:cs typeface="Rajdhani Bold"/>
                  <a:sym typeface="Rajdhani Bold"/>
                </a:rPr>
                <a:t>03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0" y="1231900"/>
              <a:ext cx="2413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35E7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QR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239250" y="3619500"/>
            <a:ext cx="1809750" cy="1196340"/>
            <a:chOff x="0" y="0"/>
            <a:chExt cx="2413000" cy="1595120"/>
          </a:xfrm>
        </p:grpSpPr>
        <p:sp>
          <p:nvSpPr>
            <p:cNvPr name="TextBox 52" id="52"/>
            <p:cNvSpPr txBox="true"/>
            <p:nvPr/>
          </p:nvSpPr>
          <p:spPr>
            <a:xfrm rot="0">
              <a:off x="0" y="38100"/>
              <a:ext cx="1016000" cy="529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2"/>
                </a:lnSpc>
              </a:pPr>
              <a:r>
                <a:rPr lang="en-US" sz="2850" b="true">
                  <a:solidFill>
                    <a:srgbClr val="35E7FF"/>
                  </a:solidFill>
                  <a:latin typeface="Rajdhani Bold"/>
                  <a:ea typeface="Rajdhani Bold"/>
                  <a:cs typeface="Rajdhani Bold"/>
                  <a:sym typeface="Rajdhani Bold"/>
                </a:rPr>
                <a:t>04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1231900"/>
              <a:ext cx="2413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35E7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IMAGE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925300" y="3619500"/>
            <a:ext cx="1809750" cy="1196340"/>
            <a:chOff x="0" y="0"/>
            <a:chExt cx="2413000" cy="1595120"/>
          </a:xfrm>
        </p:grpSpPr>
        <p:sp>
          <p:nvSpPr>
            <p:cNvPr name="TextBox 55" id="55"/>
            <p:cNvSpPr txBox="true"/>
            <p:nvPr/>
          </p:nvSpPr>
          <p:spPr>
            <a:xfrm rot="0">
              <a:off x="0" y="38100"/>
              <a:ext cx="1016000" cy="529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2"/>
                </a:lnSpc>
              </a:pPr>
              <a:r>
                <a:rPr lang="en-US" sz="2850" b="true">
                  <a:solidFill>
                    <a:srgbClr val="35E7FF"/>
                  </a:solidFill>
                  <a:latin typeface="Rajdhani Bold"/>
                  <a:ea typeface="Rajdhani Bold"/>
                  <a:cs typeface="Rajdhani Bold"/>
                  <a:sym typeface="Rajdhani Bold"/>
                </a:rPr>
                <a:t>05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0" y="1231900"/>
              <a:ext cx="2413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35E7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UPLOAD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611350" y="3619500"/>
            <a:ext cx="1809750" cy="1196340"/>
            <a:chOff x="0" y="0"/>
            <a:chExt cx="2413000" cy="1595120"/>
          </a:xfrm>
        </p:grpSpPr>
        <p:sp>
          <p:nvSpPr>
            <p:cNvPr name="TextBox 58" id="58"/>
            <p:cNvSpPr txBox="true"/>
            <p:nvPr/>
          </p:nvSpPr>
          <p:spPr>
            <a:xfrm rot="0">
              <a:off x="0" y="38100"/>
              <a:ext cx="1016000" cy="529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2"/>
                </a:lnSpc>
              </a:pPr>
              <a:r>
                <a:rPr lang="en-US" sz="2850" b="true">
                  <a:solidFill>
                    <a:srgbClr val="8B5CFF"/>
                  </a:solidFill>
                  <a:latin typeface="Rajdhani Bold"/>
                  <a:ea typeface="Rajdhani Bold"/>
                  <a:cs typeface="Rajdhani Bold"/>
                  <a:sym typeface="Rajdhani Bold"/>
                </a:rPr>
                <a:t>06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0" y="1231900"/>
              <a:ext cx="2413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35E7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AI COPILOT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14400" y="6791325"/>
            <a:ext cx="14287500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5"/>
              </a:lnSpc>
            </a:pPr>
            <a:r>
              <a:rPr lang="en-US" sz="210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BUILT FOR  /  SECURITY ANALYSTS  ·  SOC TEAMS  ·  RESEARCHERS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14400" y="7305675"/>
            <a:ext cx="11430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Centralize analysis  •  accelerate triage  •  explain every score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14400" y="9734550"/>
            <a:ext cx="6667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AEGIS / AI-ASSISTED THREAT DETECTION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6573500" y="9734550"/>
            <a:ext cx="8001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58250" y="0"/>
            <a:ext cx="9429750" cy="10287000"/>
          </a:xfrm>
          <a:custGeom>
            <a:avLst/>
            <a:gdLst/>
            <a:ahLst/>
            <a:cxnLst/>
            <a:rect r="r" b="b" t="t" l="l"/>
            <a:pathLst>
              <a:path h="10287000" w="9429750">
                <a:moveTo>
                  <a:pt x="0" y="0"/>
                </a:moveTo>
                <a:lnTo>
                  <a:pt x="9429750" y="0"/>
                </a:lnTo>
                <a:lnTo>
                  <a:pt x="9429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693" t="0" r="-45693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382000" y="0"/>
            <a:ext cx="9906000" cy="10287000"/>
            <a:chOff x="0" y="0"/>
            <a:chExt cx="13208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208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811">
                <a:alpha val="2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208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504825"/>
            <a:ext cx="685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  /  THREAT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1057275"/>
            <a:ext cx="142875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Fragmentation is the threat.</a:t>
            </a:r>
          </a:p>
        </p:txBody>
      </p:sp>
      <p:sp>
        <p:nvSpPr>
          <p:cNvPr name="AutoShape 8" id="8"/>
          <p:cNvSpPr/>
          <p:nvPr/>
        </p:nvSpPr>
        <p:spPr>
          <a:xfrm>
            <a:off x="914400" y="22669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914400" y="3571875"/>
            <a:ext cx="6191250" cy="1722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0"/>
              </a:lnSpc>
            </a:pPr>
            <a:r>
              <a:rPr lang="en-US" sz="13500" b="true">
                <a:solidFill>
                  <a:srgbClr val="FF5266"/>
                </a:solidFill>
                <a:latin typeface="Rajdhani Bold"/>
                <a:ea typeface="Rajdhani Bold"/>
                <a:cs typeface="Rajdhani Bold"/>
                <a:sym typeface="Rajdhani Bold"/>
              </a:rPr>
              <a:t>80%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5133975"/>
            <a:ext cx="6572250" cy="677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5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of security analysts report tool overload and inefficient workflows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750" y="7219950"/>
            <a:ext cx="66675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spc="15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MULTIPLE INTERFACES  /  COMPLEX ANALYSIS  /  SLOW TRIAGE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9734550"/>
            <a:ext cx="6667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AEGIS / AI-ASSISTED THREAT DETECTION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73500" y="9734550"/>
            <a:ext cx="8001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04825"/>
            <a:ext cx="685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  /  THREAT INTELLIGENCE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57275"/>
            <a:ext cx="142875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From signal to decision.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647825"/>
            <a:ext cx="11430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A centralized monitoring plane orchestrates every analysis module through one explainable workflow.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22669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762000" y="4095750"/>
            <a:ext cx="2076450" cy="1257300"/>
            <a:chOff x="0" y="0"/>
            <a:chExt cx="2768600" cy="167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686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2768600">
                  <a:moveTo>
                    <a:pt x="0" y="0"/>
                  </a:moveTo>
                  <a:lnTo>
                    <a:pt x="2768600" y="0"/>
                  </a:lnTo>
                  <a:lnTo>
                    <a:pt x="2768600" y="1676400"/>
                  </a:lnTo>
                  <a:lnTo>
                    <a:pt x="0" y="1676400"/>
                  </a:lnTo>
                  <a:close/>
                </a:path>
              </a:pathLst>
            </a:custGeom>
            <a:solidFill>
              <a:srgbClr val="10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68600" cy="171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2000" y="4095750"/>
            <a:ext cx="2076450" cy="38100"/>
            <a:chOff x="0" y="0"/>
            <a:chExt cx="2768600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68600" cy="50800"/>
            </a:xfrm>
            <a:custGeom>
              <a:avLst/>
              <a:gdLst/>
              <a:ahLst/>
              <a:cxnLst/>
              <a:rect r="r" b="b" t="t" l="l"/>
              <a:pathLst>
                <a:path h="50800" w="2768600">
                  <a:moveTo>
                    <a:pt x="0" y="0"/>
                  </a:moveTo>
                  <a:lnTo>
                    <a:pt x="2768600" y="0"/>
                  </a:lnTo>
                  <a:lnTo>
                    <a:pt x="2768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68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2838450" y="4724400"/>
            <a:ext cx="323850" cy="0"/>
          </a:xfrm>
          <a:prstGeom prst="line">
            <a:avLst/>
          </a:prstGeom>
          <a:ln cap="rnd" w="19050">
            <a:solidFill>
              <a:srgbClr val="2588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3257550" y="4095750"/>
            <a:ext cx="2076450" cy="1257300"/>
            <a:chOff x="0" y="0"/>
            <a:chExt cx="2768600" cy="167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686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2768600">
                  <a:moveTo>
                    <a:pt x="0" y="0"/>
                  </a:moveTo>
                  <a:lnTo>
                    <a:pt x="2768600" y="0"/>
                  </a:lnTo>
                  <a:lnTo>
                    <a:pt x="2768600" y="1676400"/>
                  </a:lnTo>
                  <a:lnTo>
                    <a:pt x="0" y="1676400"/>
                  </a:lnTo>
                  <a:close/>
                </a:path>
              </a:pathLst>
            </a:custGeom>
            <a:solidFill>
              <a:srgbClr val="10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768600" cy="171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257550" y="4095750"/>
            <a:ext cx="2076450" cy="38100"/>
            <a:chOff x="0" y="0"/>
            <a:chExt cx="2768600" cy="50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68600" cy="50800"/>
            </a:xfrm>
            <a:custGeom>
              <a:avLst/>
              <a:gdLst/>
              <a:ahLst/>
              <a:cxnLst/>
              <a:rect r="r" b="b" t="t" l="l"/>
              <a:pathLst>
                <a:path h="50800" w="2768600">
                  <a:moveTo>
                    <a:pt x="0" y="0"/>
                  </a:moveTo>
                  <a:lnTo>
                    <a:pt x="2768600" y="0"/>
                  </a:lnTo>
                  <a:lnTo>
                    <a:pt x="2768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768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5334000" y="4724400"/>
            <a:ext cx="323850" cy="0"/>
          </a:xfrm>
          <a:prstGeom prst="line">
            <a:avLst/>
          </a:prstGeom>
          <a:ln cap="rnd" w="19050">
            <a:solidFill>
              <a:srgbClr val="2588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5753100" y="4095750"/>
            <a:ext cx="2076450" cy="1257300"/>
            <a:chOff x="0" y="0"/>
            <a:chExt cx="2768600" cy="167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686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2768600">
                  <a:moveTo>
                    <a:pt x="0" y="0"/>
                  </a:moveTo>
                  <a:lnTo>
                    <a:pt x="2768600" y="0"/>
                  </a:lnTo>
                  <a:lnTo>
                    <a:pt x="2768600" y="1676400"/>
                  </a:lnTo>
                  <a:lnTo>
                    <a:pt x="0" y="1676400"/>
                  </a:lnTo>
                  <a:close/>
                </a:path>
              </a:pathLst>
            </a:custGeom>
            <a:solidFill>
              <a:srgbClr val="10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768600" cy="171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753100" y="4095750"/>
            <a:ext cx="2076450" cy="38100"/>
            <a:chOff x="0" y="0"/>
            <a:chExt cx="2768600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68600" cy="50800"/>
            </a:xfrm>
            <a:custGeom>
              <a:avLst/>
              <a:gdLst/>
              <a:ahLst/>
              <a:cxnLst/>
              <a:rect r="r" b="b" t="t" l="l"/>
              <a:pathLst>
                <a:path h="50800" w="2768600">
                  <a:moveTo>
                    <a:pt x="0" y="0"/>
                  </a:moveTo>
                  <a:lnTo>
                    <a:pt x="2768600" y="0"/>
                  </a:lnTo>
                  <a:lnTo>
                    <a:pt x="2768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768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7829550" y="4724400"/>
            <a:ext cx="323850" cy="0"/>
          </a:xfrm>
          <a:prstGeom prst="line">
            <a:avLst/>
          </a:prstGeom>
          <a:ln cap="rnd" w="19050">
            <a:solidFill>
              <a:srgbClr val="2588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8248650" y="4095750"/>
            <a:ext cx="2076450" cy="1257300"/>
            <a:chOff x="0" y="0"/>
            <a:chExt cx="2768600" cy="167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686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2768600">
                  <a:moveTo>
                    <a:pt x="0" y="0"/>
                  </a:moveTo>
                  <a:lnTo>
                    <a:pt x="2768600" y="0"/>
                  </a:lnTo>
                  <a:lnTo>
                    <a:pt x="2768600" y="1676400"/>
                  </a:lnTo>
                  <a:lnTo>
                    <a:pt x="0" y="1676400"/>
                  </a:lnTo>
                  <a:close/>
                </a:path>
              </a:pathLst>
            </a:custGeom>
            <a:solidFill>
              <a:srgbClr val="8B5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768600" cy="171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48650" y="4095750"/>
            <a:ext cx="2076450" cy="38100"/>
            <a:chOff x="0" y="0"/>
            <a:chExt cx="2768600" cy="50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68600" cy="50800"/>
            </a:xfrm>
            <a:custGeom>
              <a:avLst/>
              <a:gdLst/>
              <a:ahLst/>
              <a:cxnLst/>
              <a:rect r="r" b="b" t="t" l="l"/>
              <a:pathLst>
                <a:path h="50800" w="2768600">
                  <a:moveTo>
                    <a:pt x="0" y="0"/>
                  </a:moveTo>
                  <a:lnTo>
                    <a:pt x="2768600" y="0"/>
                  </a:lnTo>
                  <a:lnTo>
                    <a:pt x="2768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B5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768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3" id="33"/>
          <p:cNvSpPr/>
          <p:nvPr/>
        </p:nvSpPr>
        <p:spPr>
          <a:xfrm>
            <a:off x="10325100" y="4724400"/>
            <a:ext cx="323850" cy="0"/>
          </a:xfrm>
          <a:prstGeom prst="line">
            <a:avLst/>
          </a:prstGeom>
          <a:ln cap="rnd" w="19050">
            <a:solidFill>
              <a:srgbClr val="2588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0744200" y="4095750"/>
            <a:ext cx="2076450" cy="1257300"/>
            <a:chOff x="0" y="0"/>
            <a:chExt cx="2768600" cy="1676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686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2768600">
                  <a:moveTo>
                    <a:pt x="0" y="0"/>
                  </a:moveTo>
                  <a:lnTo>
                    <a:pt x="2768600" y="0"/>
                  </a:lnTo>
                  <a:lnTo>
                    <a:pt x="2768600" y="1676400"/>
                  </a:lnTo>
                  <a:lnTo>
                    <a:pt x="0" y="1676400"/>
                  </a:lnTo>
                  <a:close/>
                </a:path>
              </a:pathLst>
            </a:custGeom>
            <a:solidFill>
              <a:srgbClr val="10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768600" cy="171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744200" y="4095750"/>
            <a:ext cx="2076450" cy="38100"/>
            <a:chOff x="0" y="0"/>
            <a:chExt cx="2768600" cy="50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68600" cy="50800"/>
            </a:xfrm>
            <a:custGeom>
              <a:avLst/>
              <a:gdLst/>
              <a:ahLst/>
              <a:cxnLst/>
              <a:rect r="r" b="b" t="t" l="l"/>
              <a:pathLst>
                <a:path h="50800" w="2768600">
                  <a:moveTo>
                    <a:pt x="0" y="0"/>
                  </a:moveTo>
                  <a:lnTo>
                    <a:pt x="2768600" y="0"/>
                  </a:lnTo>
                  <a:lnTo>
                    <a:pt x="2768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768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40" id="40"/>
          <p:cNvSpPr/>
          <p:nvPr/>
        </p:nvSpPr>
        <p:spPr>
          <a:xfrm>
            <a:off x="12820650" y="4724400"/>
            <a:ext cx="323850" cy="0"/>
          </a:xfrm>
          <a:prstGeom prst="line">
            <a:avLst/>
          </a:prstGeom>
          <a:ln cap="rnd" w="19050">
            <a:solidFill>
              <a:srgbClr val="2588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13239750" y="4095750"/>
            <a:ext cx="2076450" cy="1257300"/>
            <a:chOff x="0" y="0"/>
            <a:chExt cx="2768600" cy="1676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7686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2768600">
                  <a:moveTo>
                    <a:pt x="0" y="0"/>
                  </a:moveTo>
                  <a:lnTo>
                    <a:pt x="2768600" y="0"/>
                  </a:lnTo>
                  <a:lnTo>
                    <a:pt x="2768600" y="1676400"/>
                  </a:lnTo>
                  <a:lnTo>
                    <a:pt x="0" y="1676400"/>
                  </a:lnTo>
                  <a:close/>
                </a:path>
              </a:pathLst>
            </a:custGeom>
            <a:solidFill>
              <a:srgbClr val="10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768600" cy="171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239750" y="4095750"/>
            <a:ext cx="2076450" cy="38100"/>
            <a:chOff x="0" y="0"/>
            <a:chExt cx="2768600" cy="50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68600" cy="50800"/>
            </a:xfrm>
            <a:custGeom>
              <a:avLst/>
              <a:gdLst/>
              <a:ahLst/>
              <a:cxnLst/>
              <a:rect r="r" b="b" t="t" l="l"/>
              <a:pathLst>
                <a:path h="50800" w="2768600">
                  <a:moveTo>
                    <a:pt x="0" y="0"/>
                  </a:moveTo>
                  <a:lnTo>
                    <a:pt x="2768600" y="0"/>
                  </a:lnTo>
                  <a:lnTo>
                    <a:pt x="2768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768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47" id="47"/>
          <p:cNvSpPr/>
          <p:nvPr/>
        </p:nvSpPr>
        <p:spPr>
          <a:xfrm>
            <a:off x="15316200" y="4724400"/>
            <a:ext cx="323850" cy="0"/>
          </a:xfrm>
          <a:prstGeom prst="line">
            <a:avLst/>
          </a:prstGeom>
          <a:ln cap="rnd" w="19050">
            <a:solidFill>
              <a:srgbClr val="2588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15735300" y="4095750"/>
            <a:ext cx="2076450" cy="1257300"/>
            <a:chOff x="0" y="0"/>
            <a:chExt cx="2768600" cy="1676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7686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2768600">
                  <a:moveTo>
                    <a:pt x="0" y="0"/>
                  </a:moveTo>
                  <a:lnTo>
                    <a:pt x="2768600" y="0"/>
                  </a:lnTo>
                  <a:lnTo>
                    <a:pt x="2768600" y="1676400"/>
                  </a:lnTo>
                  <a:lnTo>
                    <a:pt x="0" y="1676400"/>
                  </a:lnTo>
                  <a:close/>
                </a:path>
              </a:pathLst>
            </a:custGeom>
            <a:solidFill>
              <a:srgbClr val="10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768600" cy="171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735300" y="4095750"/>
            <a:ext cx="2076450" cy="38100"/>
            <a:chOff x="0" y="0"/>
            <a:chExt cx="2768600" cy="50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768600" cy="50800"/>
            </a:xfrm>
            <a:custGeom>
              <a:avLst/>
              <a:gdLst/>
              <a:ahLst/>
              <a:cxnLst/>
              <a:rect r="r" b="b" t="t" l="l"/>
              <a:pathLst>
                <a:path h="50800" w="2768600">
                  <a:moveTo>
                    <a:pt x="0" y="0"/>
                  </a:moveTo>
                  <a:lnTo>
                    <a:pt x="2768600" y="0"/>
                  </a:lnTo>
                  <a:lnTo>
                    <a:pt x="2768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7686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952500" y="4295775"/>
            <a:ext cx="571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52500" y="4781550"/>
            <a:ext cx="1714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2"/>
              </a:lnSpc>
            </a:pPr>
            <a:r>
              <a:rPr lang="en-US" sz="16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COLLECT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448050" y="4295775"/>
            <a:ext cx="571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448050" y="4781550"/>
            <a:ext cx="1714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2"/>
              </a:lnSpc>
            </a:pPr>
            <a:r>
              <a:rPr lang="en-US" sz="16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ANALYZE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943600" y="4295775"/>
            <a:ext cx="571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943600" y="4781550"/>
            <a:ext cx="1714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2"/>
              </a:lnSpc>
            </a:pPr>
            <a:r>
              <a:rPr lang="en-US" sz="16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SCORE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439150" y="4295775"/>
            <a:ext cx="571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439150" y="4781550"/>
            <a:ext cx="1714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2"/>
              </a:lnSpc>
            </a:pPr>
            <a:r>
              <a:rPr lang="en-US" sz="16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CLASSIFY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934700" y="4295775"/>
            <a:ext cx="571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934700" y="4781550"/>
            <a:ext cx="1714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2"/>
              </a:lnSpc>
            </a:pPr>
            <a:r>
              <a:rPr lang="en-US" sz="16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VISUALIZE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430250" y="4295775"/>
            <a:ext cx="571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06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430250" y="4781550"/>
            <a:ext cx="1714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2"/>
              </a:lnSpc>
            </a:pPr>
            <a:r>
              <a:rPr lang="en-US" sz="16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RECOMMEND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5925800" y="4295775"/>
            <a:ext cx="571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07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5925800" y="4781550"/>
            <a:ext cx="1714500" cy="23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2"/>
              </a:lnSpc>
            </a:pPr>
            <a:r>
              <a:rPr lang="en-US" sz="16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REPORT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476500" y="6534150"/>
            <a:ext cx="13335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b="true" sz="2250" spc="270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URL  ·  IP  ·  QR  ·  OCR  ·  PEN TEST  ·  FILE INTELLIGENCE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14400" y="9734550"/>
            <a:ext cx="6667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AEGIS / AI-ASSISTED THREAT DETECTION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6573500" y="9734550"/>
            <a:ext cx="8001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5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04825"/>
            <a:ext cx="685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  /  THREAT INTELLIGENCE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57275"/>
            <a:ext cx="142875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Secure access. Personal context.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" y="22669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143000" y="3048000"/>
            <a:ext cx="6191250" cy="5334000"/>
            <a:chOff x="0" y="0"/>
            <a:chExt cx="8255000" cy="711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55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8255000">
                  <a:moveTo>
                    <a:pt x="0" y="0"/>
                  </a:moveTo>
                  <a:lnTo>
                    <a:pt x="8255000" y="0"/>
                  </a:lnTo>
                  <a:lnTo>
                    <a:pt x="8255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0D1B2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255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72500" y="3048000"/>
            <a:ext cx="8572500" cy="5334000"/>
            <a:chOff x="0" y="0"/>
            <a:chExt cx="11430000" cy="711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30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10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430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14500" y="3657600"/>
            <a:ext cx="4762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WELCOME BACK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14500" y="4733925"/>
            <a:ext cx="4762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analyst@aegis.security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4500" y="5591175"/>
            <a:ext cx="4762500" cy="32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••••••••••••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714500" y="6619875"/>
            <a:ext cx="4762500" cy="666750"/>
            <a:chOff x="0" y="0"/>
            <a:chExt cx="6350000" cy="889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889000"/>
            </a:xfrm>
            <a:custGeom>
              <a:avLst/>
              <a:gdLst/>
              <a:ahLst/>
              <a:cxnLst/>
              <a:rect r="r" b="b" t="t" l="l"/>
              <a:pathLst>
                <a:path h="889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258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350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714500" y="6724650"/>
            <a:ext cx="476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198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SECURE SIGN IN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34500" y="3800475"/>
            <a:ext cx="6667500" cy="12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Welcome Back,</a:t>
            </a:r>
          </a:p>
          <a:p>
            <a:pPr algn="l">
              <a:lnSpc>
                <a:spcPts val="4800"/>
              </a:lnSpc>
            </a:pPr>
            <a:r>
              <a:rPr lang="en-US" sz="480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Srilekha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34500" y="5305425"/>
            <a:ext cx="1714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ADMIN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34500" y="6153150"/>
            <a:ext cx="6191250" cy="102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Firebase Authentication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Identity-aware interface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Profile &amp; session management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9734550"/>
            <a:ext cx="6667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AEGIS / AI-ASSISTED THREAT DETECTION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573500" y="9734550"/>
            <a:ext cx="8001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04825"/>
            <a:ext cx="685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06  /  THREAT INTELLIGENCE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57275"/>
            <a:ext cx="142875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Your SOC, at a glance.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" y="22669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14400" y="2857500"/>
            <a:ext cx="3524250" cy="1619250"/>
            <a:chOff x="0" y="0"/>
            <a:chExt cx="4699000" cy="215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9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699000">
                  <a:moveTo>
                    <a:pt x="0" y="0"/>
                  </a:moveTo>
                  <a:lnTo>
                    <a:pt x="4699000" y="0"/>
                  </a:lnTo>
                  <a:lnTo>
                    <a:pt x="4699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9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857500"/>
            <a:ext cx="38100" cy="1619250"/>
            <a:chOff x="0" y="0"/>
            <a:chExt cx="508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8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14900" y="2857500"/>
            <a:ext cx="3524250" cy="1619250"/>
            <a:chOff x="0" y="0"/>
            <a:chExt cx="4699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9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699000">
                  <a:moveTo>
                    <a:pt x="0" y="0"/>
                  </a:moveTo>
                  <a:lnTo>
                    <a:pt x="4699000" y="0"/>
                  </a:lnTo>
                  <a:lnTo>
                    <a:pt x="4699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69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14900" y="2857500"/>
            <a:ext cx="38100" cy="1619250"/>
            <a:chOff x="0" y="0"/>
            <a:chExt cx="50800" cy="2159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8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FF526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08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15400" y="2857500"/>
            <a:ext cx="3524250" cy="1619250"/>
            <a:chOff x="0" y="0"/>
            <a:chExt cx="4699000" cy="2159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9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699000">
                  <a:moveTo>
                    <a:pt x="0" y="0"/>
                  </a:moveTo>
                  <a:lnTo>
                    <a:pt x="4699000" y="0"/>
                  </a:lnTo>
                  <a:lnTo>
                    <a:pt x="4699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69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15400" y="2857500"/>
            <a:ext cx="38100" cy="1619250"/>
            <a:chOff x="0" y="0"/>
            <a:chExt cx="50800" cy="2159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8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08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915900" y="2857500"/>
            <a:ext cx="3524250" cy="1619250"/>
            <a:chOff x="0" y="0"/>
            <a:chExt cx="4699000" cy="2159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9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699000">
                  <a:moveTo>
                    <a:pt x="0" y="0"/>
                  </a:moveTo>
                  <a:lnTo>
                    <a:pt x="4699000" y="0"/>
                  </a:lnTo>
                  <a:lnTo>
                    <a:pt x="4699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69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915900" y="2857500"/>
            <a:ext cx="38100" cy="1619250"/>
            <a:chOff x="0" y="0"/>
            <a:chExt cx="50800" cy="2159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8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08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00150" y="3143250"/>
            <a:ext cx="2857500" cy="967740"/>
            <a:chOff x="0" y="0"/>
            <a:chExt cx="3810000" cy="1290320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95250"/>
              <a:ext cx="3810000" cy="849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en-US" sz="4650" b="true">
                  <a:solidFill>
                    <a:srgbClr val="F4FBFF"/>
                  </a:solidFill>
                  <a:latin typeface="Rajdhani Bold"/>
                  <a:ea typeface="Rajdhani Bold"/>
                  <a:cs typeface="Rajdhani Bold"/>
                  <a:sym typeface="Rajdhani Bold"/>
                </a:rPr>
                <a:t>1,284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1022350"/>
              <a:ext cx="3810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spc="152" b="true">
                  <a:solidFill>
                    <a:srgbClr val="35E7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EVENTS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200650" y="3143250"/>
            <a:ext cx="2857500" cy="967740"/>
            <a:chOff x="0" y="0"/>
            <a:chExt cx="3810000" cy="1290320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95250"/>
              <a:ext cx="3810000" cy="849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en-US" sz="4650" b="true">
                  <a:solidFill>
                    <a:srgbClr val="FF5266"/>
                  </a:solidFill>
                  <a:latin typeface="Rajdhani Bold"/>
                  <a:ea typeface="Rajdhani Bold"/>
                  <a:cs typeface="Rajdhani Bold"/>
                  <a:sym typeface="Rajdhani Bold"/>
                </a:rPr>
                <a:t>73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1022350"/>
              <a:ext cx="3810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spc="152" b="true">
                  <a:solidFill>
                    <a:srgbClr val="35E7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HIGH RISK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01150" y="3143250"/>
            <a:ext cx="2857500" cy="967740"/>
            <a:chOff x="0" y="0"/>
            <a:chExt cx="3810000" cy="1290320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95250"/>
              <a:ext cx="3810000" cy="849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en-US" sz="4650" b="true">
                  <a:solidFill>
                    <a:srgbClr val="F4FBFF"/>
                  </a:solidFill>
                  <a:latin typeface="Rajdhani Bold"/>
                  <a:ea typeface="Rajdhani Bold"/>
                  <a:cs typeface="Rajdhani Bold"/>
                  <a:sym typeface="Rajdhani Bold"/>
                </a:rPr>
                <a:t>92%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1022350"/>
              <a:ext cx="3810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spc="152" b="true">
                  <a:solidFill>
                    <a:srgbClr val="35E7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COVERAGE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201650" y="3143250"/>
            <a:ext cx="2857500" cy="967740"/>
            <a:chOff x="0" y="0"/>
            <a:chExt cx="3810000" cy="1290320"/>
          </a:xfrm>
        </p:grpSpPr>
        <p:sp>
          <p:nvSpPr>
            <p:cNvPr name="TextBox 39" id="39"/>
            <p:cNvSpPr txBox="true"/>
            <p:nvPr/>
          </p:nvSpPr>
          <p:spPr>
            <a:xfrm rot="0">
              <a:off x="0" y="95250"/>
              <a:ext cx="3810000" cy="849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en-US" sz="4650" b="true">
                  <a:solidFill>
                    <a:srgbClr val="F4FBFF"/>
                  </a:solidFill>
                  <a:latin typeface="Rajdhani Bold"/>
                  <a:ea typeface="Rajdhani Bold"/>
                  <a:cs typeface="Rajdhani Bold"/>
                  <a:sym typeface="Rajdhani Bold"/>
                </a:rPr>
                <a:t>04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0" y="1022350"/>
              <a:ext cx="3810000" cy="267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275" spc="152" b="true">
                  <a:solidFill>
                    <a:srgbClr val="35E7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ACTIVE ALERTS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" y="5048250"/>
            <a:ext cx="10287000" cy="3714750"/>
            <a:chOff x="0" y="0"/>
            <a:chExt cx="13716000" cy="4953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7160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0D1B2D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3716000" cy="499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620500" y="5048250"/>
            <a:ext cx="5753100" cy="3714750"/>
            <a:chOff x="0" y="0"/>
            <a:chExt cx="7670800" cy="4953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6708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7670800">
                  <a:moveTo>
                    <a:pt x="0" y="0"/>
                  </a:moveTo>
                  <a:lnTo>
                    <a:pt x="7670800" y="0"/>
                  </a:lnTo>
                  <a:lnTo>
                    <a:pt x="76708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10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670800" cy="499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19250" y="5238750"/>
            <a:ext cx="857250" cy="2857500"/>
            <a:chOff x="0" y="0"/>
            <a:chExt cx="1143000" cy="3810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43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143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429000" y="6096000"/>
            <a:ext cx="857250" cy="2000250"/>
            <a:chOff x="0" y="0"/>
            <a:chExt cx="1143000" cy="2667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43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258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143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238750" y="6524625"/>
            <a:ext cx="857250" cy="1571625"/>
            <a:chOff x="0" y="0"/>
            <a:chExt cx="1143000" cy="20955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43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209550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8B5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143000" cy="2133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048500" y="7048500"/>
            <a:ext cx="857250" cy="1047750"/>
            <a:chOff x="0" y="0"/>
            <a:chExt cx="1143000" cy="1397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43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5266"/>
            </a:solidFill>
            <a:ln cap="sq">
              <a:noFill/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143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858250" y="7381875"/>
            <a:ext cx="857250" cy="714375"/>
            <a:chOff x="0" y="0"/>
            <a:chExt cx="1143000" cy="9525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43000" cy="952500"/>
            </a:xfrm>
            <a:custGeom>
              <a:avLst/>
              <a:gdLst/>
              <a:ahLst/>
              <a:cxnLst/>
              <a:rect r="r" b="b" t="t" l="l"/>
              <a:pathLst>
                <a:path h="9525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43F0B2"/>
            </a:solidFill>
            <a:ln cap="sq">
              <a:noFill/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143000" cy="990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333500" y="530542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THREAT VOLUME / 24H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192000" y="5305425"/>
            <a:ext cx="428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THREAT DISTRIBUTION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192000" y="6124575"/>
            <a:ext cx="4286250" cy="1912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PHISHING        34%</a:t>
            </a:r>
          </a:p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MALWARE         26%</a:t>
            </a:r>
          </a:p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DDoS            18%</a:t>
            </a:r>
          </a:p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RANSOMWARE      13%</a:t>
            </a:r>
          </a:p>
          <a:p>
            <a:pPr algn="l">
              <a:lnSpc>
                <a:spcPts val="3093"/>
              </a:lnSpc>
            </a:pPr>
            <a:r>
              <a:rPr lang="en-US" sz="1875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INSIDER          9%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14400" y="9734550"/>
            <a:ext cx="6667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AEGIS / AI-ASSISTED THREAT DETECTION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573500" y="9734550"/>
            <a:ext cx="8001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5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04825"/>
            <a:ext cx="685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07  /  THREAT INTELLIGENCE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57275"/>
            <a:ext cx="142875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Inspect the link before it clicks.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" y="22669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14400" y="2952750"/>
            <a:ext cx="16459200" cy="952500"/>
            <a:chOff x="0" y="0"/>
            <a:chExt cx="21945600" cy="127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10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9456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38250" y="3181350"/>
            <a:ext cx="11430000" cy="32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https://secure-account-verify.example-login.co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097000" y="3095625"/>
            <a:ext cx="2667000" cy="666750"/>
            <a:chOff x="0" y="0"/>
            <a:chExt cx="3556000" cy="889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5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556000">
                  <a:moveTo>
                    <a:pt x="0" y="0"/>
                  </a:moveTo>
                  <a:lnTo>
                    <a:pt x="3556000" y="0"/>
                  </a:lnTo>
                  <a:lnTo>
                    <a:pt x="3556000" y="889000"/>
                  </a:lnTo>
                  <a:lnTo>
                    <a:pt x="0" y="889000"/>
                  </a:lnTo>
                  <a:close/>
                </a:path>
              </a:pathLst>
            </a:custGeom>
            <a:solidFill>
              <a:srgbClr val="258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556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382750" y="3209925"/>
            <a:ext cx="2190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ANALYZE URL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8250" y="5229225"/>
            <a:ext cx="295275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5"/>
              </a:lnSpc>
            </a:pPr>
            <a:r>
              <a:rPr lang="en-US" sz="11250" b="true">
                <a:solidFill>
                  <a:srgbClr val="FF5266"/>
                </a:solidFill>
                <a:latin typeface="Rajdhani Bold"/>
                <a:ea typeface="Rajdhani Bold"/>
                <a:cs typeface="Rajdhani Bold"/>
                <a:sym typeface="Rajdhani Bold"/>
              </a:rPr>
              <a:t>78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3500" y="6629400"/>
            <a:ext cx="4286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15" b="true">
                <a:solidFill>
                  <a:srgbClr val="FF526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HIGH RISK / PHISHING</a:t>
            </a:r>
          </a:p>
        </p:txBody>
      </p:sp>
      <p:sp>
        <p:nvSpPr>
          <p:cNvPr name="AutoShape 15" id="15"/>
          <p:cNvSpPr/>
          <p:nvPr/>
        </p:nvSpPr>
        <p:spPr>
          <a:xfrm>
            <a:off x="6191250" y="5314950"/>
            <a:ext cx="104775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6191250" y="6172200"/>
            <a:ext cx="104775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6191250" y="7029450"/>
            <a:ext cx="104775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6191250" y="7886700"/>
            <a:ext cx="104775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6191250" y="4733925"/>
            <a:ext cx="57150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HTTPS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11250" y="47244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43F0B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VALID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91250" y="5591175"/>
            <a:ext cx="57150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DOMAIN TRUST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11250" y="558165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FF526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LOW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91250" y="6448425"/>
            <a:ext cx="57150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SUSPICIOUS KEYWORDS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811250" y="64389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FF526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3 FOUND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191250" y="7305675"/>
            <a:ext cx="57150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REDIRECT CHAIN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11250" y="729615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98">
                <a:solidFill>
                  <a:srgbClr val="FF526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2 HOPS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9734550"/>
            <a:ext cx="6667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AEGIS / AI-ASSISTED THREAT DETECTION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73500" y="9734550"/>
            <a:ext cx="8001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53500" y="0"/>
            <a:ext cx="9334500" cy="10287000"/>
          </a:xfrm>
          <a:custGeom>
            <a:avLst/>
            <a:gdLst/>
            <a:ahLst/>
            <a:cxnLst/>
            <a:rect r="r" b="b" t="t" l="l"/>
            <a:pathLst>
              <a:path h="10287000" w="9334500">
                <a:moveTo>
                  <a:pt x="0" y="0"/>
                </a:moveTo>
                <a:lnTo>
                  <a:pt x="9334500" y="0"/>
                </a:lnTo>
                <a:lnTo>
                  <a:pt x="9334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670" t="0" r="-4667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572500" y="0"/>
            <a:ext cx="9715500" cy="10287000"/>
            <a:chOff x="0" y="0"/>
            <a:chExt cx="1295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5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954000">
                  <a:moveTo>
                    <a:pt x="0" y="0"/>
                  </a:moveTo>
                  <a:lnTo>
                    <a:pt x="12954000" y="0"/>
                  </a:lnTo>
                  <a:lnTo>
                    <a:pt x="1295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01D">
                <a:alpha val="3490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95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504825"/>
            <a:ext cx="685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08  /  THREAT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1057275"/>
            <a:ext cx="142875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Know every address.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1647825"/>
            <a:ext cx="11430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Local classification and heuristic risk scoring reveal what an IP represents—and why it matters.</a:t>
            </a:r>
          </a:p>
        </p:txBody>
      </p:sp>
      <p:sp>
        <p:nvSpPr>
          <p:cNvPr name="AutoShape 9" id="9"/>
          <p:cNvSpPr/>
          <p:nvPr/>
        </p:nvSpPr>
        <p:spPr>
          <a:xfrm>
            <a:off x="914400" y="22669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14400" y="3562350"/>
            <a:ext cx="666750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0"/>
              </a:lnSpc>
            </a:pPr>
            <a:r>
              <a:rPr lang="en-US" sz="900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8.8.8.8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0125" y="4733925"/>
            <a:ext cx="666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43F0B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KNOWN DNS  /  GOOGLE PUBLIC DNS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0125" y="5800725"/>
            <a:ext cx="4762500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10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PUBLIC</a:t>
            </a:r>
          </a:p>
          <a:p>
            <a:pPr algn="l">
              <a:lnSpc>
                <a:spcPts val="3569"/>
              </a:lnSpc>
            </a:pPr>
            <a:r>
              <a:rPr lang="en-US" sz="210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PRIVATE</a:t>
            </a:r>
          </a:p>
          <a:p>
            <a:pPr algn="l">
              <a:lnSpc>
                <a:spcPts val="3569"/>
              </a:lnSpc>
            </a:pPr>
            <a:r>
              <a:rPr lang="en-US" sz="210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LOOPBACK</a:t>
            </a:r>
          </a:p>
          <a:p>
            <a:pPr algn="l">
              <a:lnSpc>
                <a:spcPts val="3569"/>
              </a:lnSpc>
            </a:pPr>
            <a:r>
              <a:rPr lang="en-US" sz="210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MULTICAST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0125" y="8153400"/>
            <a:ext cx="5715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1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RISK SCORE  08 / 100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9734550"/>
            <a:ext cx="6667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AEGIS / AI-ASSISTED THREAT DETECTION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73500" y="9734550"/>
            <a:ext cx="8001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5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04825"/>
            <a:ext cx="685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09  /  THREAT INTELLIGENCE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57275"/>
            <a:ext cx="142875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Decode intent, not just content.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" y="22669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14400" y="3143250"/>
            <a:ext cx="4953000" cy="1809750"/>
            <a:chOff x="0" y="0"/>
            <a:chExt cx="6604000" cy="2413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0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3143250"/>
            <a:ext cx="38100" cy="1809750"/>
            <a:chOff x="0" y="0"/>
            <a:chExt cx="50800" cy="241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FF5266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8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38900" y="3143250"/>
            <a:ext cx="4953000" cy="1809750"/>
            <a:chOff x="0" y="0"/>
            <a:chExt cx="6604000" cy="241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60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38900" y="3143250"/>
            <a:ext cx="38100" cy="1809750"/>
            <a:chOff x="0" y="0"/>
            <a:chExt cx="50800" cy="2413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8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08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963400" y="3143250"/>
            <a:ext cx="4953000" cy="1809750"/>
            <a:chOff x="0" y="0"/>
            <a:chExt cx="6604000" cy="2413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0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60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63400" y="3143250"/>
            <a:ext cx="38100" cy="1809750"/>
            <a:chOff x="0" y="0"/>
            <a:chExt cx="50800" cy="2413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8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08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5429250"/>
            <a:ext cx="4953000" cy="1809750"/>
            <a:chOff x="0" y="0"/>
            <a:chExt cx="6604000" cy="2413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0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60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" y="5429250"/>
            <a:ext cx="38100" cy="1809750"/>
            <a:chOff x="0" y="0"/>
            <a:chExt cx="50800" cy="2413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8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08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38900" y="5429250"/>
            <a:ext cx="4953000" cy="1809750"/>
            <a:chOff x="0" y="0"/>
            <a:chExt cx="6604000" cy="2413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0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60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38900" y="5429250"/>
            <a:ext cx="38100" cy="1809750"/>
            <a:chOff x="0" y="0"/>
            <a:chExt cx="50800" cy="2413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8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08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963400" y="5429250"/>
            <a:ext cx="4953000" cy="1809750"/>
            <a:chOff x="0" y="0"/>
            <a:chExt cx="6604000" cy="2413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60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60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963400" y="5429250"/>
            <a:ext cx="38100" cy="1809750"/>
            <a:chOff x="0" y="0"/>
            <a:chExt cx="50800" cy="2413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8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08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181100" y="3371850"/>
            <a:ext cx="666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81100" y="3924300"/>
            <a:ext cx="4095750" cy="38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URL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81100" y="4410075"/>
            <a:ext cx="4191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FF526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STRUCTURAL + KEYWORD ANALYSIS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705600" y="3371850"/>
            <a:ext cx="666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705600" y="3924300"/>
            <a:ext cx="4095750" cy="38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EMAIL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705600" y="4410075"/>
            <a:ext cx="4191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92A9B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CONTENT TYPE DETECTION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230100" y="3371850"/>
            <a:ext cx="666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230100" y="3924300"/>
            <a:ext cx="4095750" cy="38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PHONE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230100" y="4410075"/>
            <a:ext cx="4191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92A9B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CONTENT TYPE DETECTION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81100" y="5657850"/>
            <a:ext cx="666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81100" y="6210300"/>
            <a:ext cx="4095750" cy="38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SMS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81100" y="6696075"/>
            <a:ext cx="4191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92A9B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CONTENT TYPE DETECTION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705600" y="5657850"/>
            <a:ext cx="666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05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705600" y="6210300"/>
            <a:ext cx="4095750" cy="38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WI-FI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705600" y="6696075"/>
            <a:ext cx="4191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92A9B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CONTENT TYPE DETECTION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230100" y="5657850"/>
            <a:ext cx="666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06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230100" y="6210300"/>
            <a:ext cx="4095750" cy="38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PLAIN TEXT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230100" y="6696075"/>
            <a:ext cx="4191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92A9B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CONTENT TYPE DETECTION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14400" y="9734550"/>
            <a:ext cx="6667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AEGIS / AI-ASSISTED THREAT DETECTION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6573500" y="9734550"/>
            <a:ext cx="8001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29500" y="2381250"/>
            <a:ext cx="9906000" cy="6191250"/>
          </a:xfrm>
          <a:custGeom>
            <a:avLst/>
            <a:gdLst/>
            <a:ahLst/>
            <a:cxnLst/>
            <a:rect r="r" b="b" t="t" l="l"/>
            <a:pathLst>
              <a:path h="6191250" w="9906000">
                <a:moveTo>
                  <a:pt x="0" y="0"/>
                </a:moveTo>
                <a:lnTo>
                  <a:pt x="9906000" y="0"/>
                </a:lnTo>
                <a:lnTo>
                  <a:pt x="9906000" y="6191250"/>
                </a:lnTo>
                <a:lnTo>
                  <a:pt x="0" y="619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24" t="0" r="-4824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14400" y="504825"/>
            <a:ext cx="685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010  /  THREAT INTELLIGENCE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057275"/>
            <a:ext cx="142875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See the threat hidden in pixels.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22669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14400" y="3609975"/>
            <a:ext cx="5715000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5"/>
              </a:lnSpc>
            </a:pPr>
            <a:r>
              <a:rPr lang="en-US" sz="11250" b="true">
                <a:solidFill>
                  <a:srgbClr val="35E7FF"/>
                </a:solidFill>
                <a:latin typeface="Rajdhani Bold"/>
                <a:ea typeface="Rajdhani Bold"/>
                <a:cs typeface="Rajdhani Bold"/>
                <a:sym typeface="Rajdhani Bold"/>
              </a:rPr>
              <a:t>OCR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0125" y="4914900"/>
            <a:ext cx="5334000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Upload → extract text → match phishing language → classify risk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0125" y="6534150"/>
            <a:ext cx="552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F526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VERIFY  /  OTP  /  BANK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0125" y="7496175"/>
            <a:ext cx="57150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189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SAFE  ·  WARNING  ·  HIGH RISK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9734550"/>
            <a:ext cx="6667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AEGIS / AI-ASSISTED THREAT DETECTION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73500" y="9734550"/>
            <a:ext cx="8001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5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04825"/>
            <a:ext cx="685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011  /  THREAT INTELLIGENCE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57275"/>
            <a:ext cx="142875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Simulate the exposure. Prioritize the fix.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" y="22669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14400" y="3048000"/>
            <a:ext cx="7715250" cy="5334000"/>
            <a:chOff x="0" y="0"/>
            <a:chExt cx="10287000" cy="711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87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0D1B2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2870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20250" y="3048000"/>
            <a:ext cx="7753350" cy="5334000"/>
            <a:chOff x="0" y="0"/>
            <a:chExt cx="10337800" cy="711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378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10337800">
                  <a:moveTo>
                    <a:pt x="0" y="0"/>
                  </a:moveTo>
                  <a:lnTo>
                    <a:pt x="10337800" y="0"/>
                  </a:lnTo>
                  <a:lnTo>
                    <a:pt x="10337800" y="7112000"/>
                  </a:lnTo>
                  <a:lnTo>
                    <a:pt x="0" y="7112000"/>
                  </a:lnTo>
                  <a:close/>
                </a:path>
              </a:pathLst>
            </a:custGeom>
            <a:solidFill>
              <a:srgbClr val="10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337800" cy="715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28750" y="3486150"/>
            <a:ext cx="6191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1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SIMULATED TEST RESULTS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8750" y="4457700"/>
            <a:ext cx="5715000" cy="875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6"/>
              </a:lnSpc>
            </a:pPr>
            <a:r>
              <a:rPr lang="en-US" sz="6900" b="true">
                <a:solidFill>
                  <a:srgbClr val="FF5266"/>
                </a:solidFill>
                <a:latin typeface="Rajdhani Bold"/>
                <a:ea typeface="Rajdhani Bold"/>
                <a:cs typeface="Rajdhani Bold"/>
                <a:sym typeface="Rajdhani Bold"/>
              </a:rPr>
              <a:t>64 / 100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750" y="5743575"/>
            <a:ext cx="5905500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5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OPEN PORTS     04</a:t>
            </a:r>
          </a:p>
          <a:p>
            <a:pPr algn="l">
              <a:lnSpc>
                <a:spcPts val="3000"/>
              </a:lnSpc>
            </a:pPr>
            <a:r>
              <a:rPr lang="en-US" sz="1875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SSL / TLS       WEAK</a:t>
            </a:r>
          </a:p>
          <a:p>
            <a:pPr algn="l">
              <a:lnSpc>
                <a:spcPts val="3000"/>
              </a:lnSpc>
            </a:pPr>
            <a:r>
              <a:rPr lang="en-US" sz="1875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HEADERS         03 MISSING</a:t>
            </a:r>
          </a:p>
          <a:p>
            <a:pPr algn="l">
              <a:lnSpc>
                <a:spcPts val="3000"/>
              </a:lnSpc>
            </a:pPr>
            <a:r>
              <a:rPr lang="en-US" sz="1875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EXPOSURE        FTP · TELNET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91750" y="3486150"/>
            <a:ext cx="6191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1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REAL SYSTEM STATUS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91750" y="4657725"/>
            <a:ext cx="571500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0"/>
              </a:lnSpc>
            </a:pPr>
            <a:r>
              <a:rPr lang="en-US" sz="9000" b="true">
                <a:solidFill>
                  <a:srgbClr val="8B5CFF"/>
                </a:solidFill>
                <a:latin typeface="Rajdhani Bold"/>
                <a:ea typeface="Rajdhani Bold"/>
                <a:cs typeface="Rajdhani Bold"/>
                <a:sym typeface="Rajdhani Bold"/>
              </a:rPr>
              <a:t>DEMO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91750" y="6153150"/>
            <a:ext cx="5905500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Educational simulation only.</a:t>
            </a:r>
          </a:p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live exploitation performed.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9734550"/>
            <a:ext cx="6667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AEGIS / AI-ASSISTED THREAT DETECTION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73500" y="9734550"/>
            <a:ext cx="8001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04825"/>
            <a:ext cx="685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012  /  THREAT INTELLIGENCE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57275"/>
            <a:ext cx="142875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Bring every artifact into view.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647825"/>
            <a:ext cx="11430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Multi-format ingestion creates one analysis surface for diverse security evidence.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22669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14400" y="3143250"/>
            <a:ext cx="3619500" cy="1952625"/>
            <a:chOff x="0" y="0"/>
            <a:chExt cx="4826000" cy="2603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6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26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3143250"/>
            <a:ext cx="38100" cy="1952625"/>
            <a:chOff x="0" y="0"/>
            <a:chExt cx="50800" cy="2603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43F0B2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08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010150" y="3143250"/>
            <a:ext cx="3619500" cy="1952625"/>
            <a:chOff x="0" y="0"/>
            <a:chExt cx="4826000" cy="2603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26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826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010150" y="3143250"/>
            <a:ext cx="38100" cy="1952625"/>
            <a:chOff x="0" y="0"/>
            <a:chExt cx="50800" cy="2603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8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08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05900" y="3143250"/>
            <a:ext cx="3619500" cy="1952625"/>
            <a:chOff x="0" y="0"/>
            <a:chExt cx="4826000" cy="2603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26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826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05900" y="3143250"/>
            <a:ext cx="38100" cy="1952625"/>
            <a:chOff x="0" y="0"/>
            <a:chExt cx="50800" cy="2603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8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08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201650" y="3143250"/>
            <a:ext cx="3619500" cy="1952625"/>
            <a:chOff x="0" y="0"/>
            <a:chExt cx="4826000" cy="2603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26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826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201650" y="3143250"/>
            <a:ext cx="38100" cy="1952625"/>
            <a:chOff x="0" y="0"/>
            <a:chExt cx="50800" cy="2603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8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08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5524500"/>
            <a:ext cx="3619500" cy="1952625"/>
            <a:chOff x="0" y="0"/>
            <a:chExt cx="4826000" cy="2603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26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826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5524500"/>
            <a:ext cx="38100" cy="1952625"/>
            <a:chOff x="0" y="0"/>
            <a:chExt cx="50800" cy="2603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8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08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010150" y="5524500"/>
            <a:ext cx="3619500" cy="1952625"/>
            <a:chOff x="0" y="0"/>
            <a:chExt cx="4826000" cy="2603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26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826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010150" y="5524500"/>
            <a:ext cx="38100" cy="1952625"/>
            <a:chOff x="0" y="0"/>
            <a:chExt cx="50800" cy="2603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08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105900" y="5524500"/>
            <a:ext cx="3619500" cy="1952625"/>
            <a:chOff x="0" y="0"/>
            <a:chExt cx="4826000" cy="2603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26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826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05900" y="5524500"/>
            <a:ext cx="38100" cy="1952625"/>
            <a:chOff x="0" y="0"/>
            <a:chExt cx="50800" cy="26035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08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08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201650" y="5524500"/>
            <a:ext cx="3619500" cy="1952625"/>
            <a:chOff x="0" y="0"/>
            <a:chExt cx="4826000" cy="26035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260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48260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201650" y="5524500"/>
            <a:ext cx="38100" cy="1952625"/>
            <a:chOff x="0" y="0"/>
            <a:chExt cx="50800" cy="26035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0800" cy="2603500"/>
            </a:xfrm>
            <a:custGeom>
              <a:avLst/>
              <a:gdLst/>
              <a:ahLst/>
              <a:cxnLst/>
              <a:rect r="r" b="b" t="t" l="l"/>
              <a:pathLst>
                <a:path h="2603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603500"/>
                  </a:lnTo>
                  <a:lnTo>
                    <a:pt x="0" y="26035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50800" cy="264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181100" y="3571875"/>
            <a:ext cx="2857500" cy="47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4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CSV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81100" y="4314825"/>
            <a:ext cx="2857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PAPA PARSE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276850" y="3571875"/>
            <a:ext cx="2857500" cy="47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4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JSON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276850" y="4314825"/>
            <a:ext cx="2857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CUSTOM PARSER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372600" y="3571875"/>
            <a:ext cx="2857500" cy="47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4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XLSX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372600" y="4314825"/>
            <a:ext cx="2857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CUSTOM PARSER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468350" y="3571875"/>
            <a:ext cx="2857500" cy="47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4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PDF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468350" y="4314825"/>
            <a:ext cx="2857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CUSTOM PARSER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81100" y="5953125"/>
            <a:ext cx="2857500" cy="47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4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IMAGE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81100" y="6696075"/>
            <a:ext cx="2857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CUSTOM PARSER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276850" y="5953125"/>
            <a:ext cx="2857500" cy="47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4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TXT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276850" y="6696075"/>
            <a:ext cx="2857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CUSTOM PARSER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372600" y="5953125"/>
            <a:ext cx="2857500" cy="47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4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LOG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372600" y="6696075"/>
            <a:ext cx="2857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CUSTOM PARSER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468350" y="5953125"/>
            <a:ext cx="2857500" cy="475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4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XML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468350" y="6696075"/>
            <a:ext cx="2857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144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CUSTOM PARSER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14400" y="9734550"/>
            <a:ext cx="6667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AEGIS / AI-ASSISTED THREAT DETECTION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573500" y="9734550"/>
            <a:ext cx="8001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5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04825"/>
            <a:ext cx="685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013  /  THREAT INTELLIGENCE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57275"/>
            <a:ext cx="142875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Ask the dashboard.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1647825"/>
            <a:ext cx="1143000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An interactive cybersecurity copilot explains threats, concepts, scores, and recommended actions in plain language.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" y="22669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4762500" y="2857500"/>
            <a:ext cx="12573000" cy="5905500"/>
            <a:chOff x="0" y="0"/>
            <a:chExt cx="16764000" cy="787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64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16764000">
                  <a:moveTo>
                    <a:pt x="0" y="0"/>
                  </a:moveTo>
                  <a:lnTo>
                    <a:pt x="16764000" y="0"/>
                  </a:lnTo>
                  <a:lnTo>
                    <a:pt x="16764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0D1B2D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764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4400" y="3981450"/>
            <a:ext cx="3143250" cy="180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94"/>
              </a:lnSpc>
            </a:pPr>
            <a:r>
              <a:rPr lang="en-US" sz="14250" b="true">
                <a:solidFill>
                  <a:srgbClr val="8B5CFF"/>
                </a:solidFill>
                <a:latin typeface="Rajdhani Bold"/>
                <a:ea typeface="Rajdhani Bold"/>
                <a:cs typeface="Rajdhani Bold"/>
                <a:sym typeface="Rajdhani Bold"/>
              </a:rPr>
              <a:t>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24500" y="3552825"/>
            <a:ext cx="6191250" cy="25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875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How was this URL scored?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39000" y="4457700"/>
            <a:ext cx="8572500" cy="61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score increased because the domain has low trust, uses three urgency keywords, and redirects twice before reaching the destination.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24500" y="6219825"/>
            <a:ext cx="6191250" cy="25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875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What should I do next?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39000" y="7077075"/>
            <a:ext cx="8572500" cy="61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Block the domain, preserve the artifact, and review related user activity before escalating the incident.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9734550"/>
            <a:ext cx="6667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AEGIS / AI-ASSISTED THREAT DETECTION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73500" y="9734550"/>
            <a:ext cx="8001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96250" y="0"/>
            <a:ext cx="10191750" cy="10287000"/>
          </a:xfrm>
          <a:custGeom>
            <a:avLst/>
            <a:gdLst/>
            <a:ahLst/>
            <a:cxnLst/>
            <a:rect r="r" b="b" t="t" l="l"/>
            <a:pathLst>
              <a:path h="10287000" w="10191750">
                <a:moveTo>
                  <a:pt x="0" y="0"/>
                </a:moveTo>
                <a:lnTo>
                  <a:pt x="10191750" y="0"/>
                </a:lnTo>
                <a:lnTo>
                  <a:pt x="10191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539" t="0" r="-38539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620000" y="0"/>
            <a:ext cx="10668000" cy="10287000"/>
            <a:chOff x="0" y="0"/>
            <a:chExt cx="1422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2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01D">
                <a:alpha val="3490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22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504825"/>
            <a:ext cx="685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014  /  THREAT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1057275"/>
            <a:ext cx="142875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Alert. Explain. Act.</a:t>
            </a:r>
          </a:p>
        </p:txBody>
      </p:sp>
      <p:sp>
        <p:nvSpPr>
          <p:cNvPr name="AutoShape 8" id="8"/>
          <p:cNvSpPr/>
          <p:nvPr/>
        </p:nvSpPr>
        <p:spPr>
          <a:xfrm>
            <a:off x="914400" y="22669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914400" y="3667125"/>
            <a:ext cx="4762500" cy="1722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0"/>
              </a:lnSpc>
            </a:pPr>
            <a:r>
              <a:rPr lang="en-US" sz="13500" b="true">
                <a:solidFill>
                  <a:srgbClr val="FF5266"/>
                </a:solidFill>
                <a:latin typeface="Rajdhani Bold"/>
                <a:ea typeface="Rajdhani Bold"/>
                <a:cs typeface="Rajdhani Bold"/>
                <a:sym typeface="Rajdhani Bold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0125" y="5200650"/>
            <a:ext cx="5238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ACTIVE NOTIFICATIONS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0125" y="6353175"/>
            <a:ext cx="5715000" cy="1128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 events feed structured reports with threat score, risk class, evidence, and recommendations.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9734550"/>
            <a:ext cx="6667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AEGIS / AI-ASSISTED THREAT DETECTION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73500" y="9734550"/>
            <a:ext cx="8001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5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04825"/>
            <a:ext cx="685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015  /  THREAT INTELLIGENCE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57275"/>
            <a:ext cx="142875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Built for modern delivery.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" y="22669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914400" y="39052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14400" y="514350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14400" y="63817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914400" y="762000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914400" y="88582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14400" y="3019425"/>
            <a:ext cx="33337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FRONTEND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62500" y="3086100"/>
            <a:ext cx="11906250" cy="28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3"/>
              </a:lnSpc>
            </a:pPr>
            <a:r>
              <a:rPr lang="en-US" sz="2175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React.js · TypeScript · Vite · Tailwind CSS · Recharts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4257675"/>
            <a:ext cx="33337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IDENTITY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62500" y="4324350"/>
            <a:ext cx="11906250" cy="28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3"/>
              </a:lnSpc>
            </a:pPr>
            <a:r>
              <a:rPr lang="en-US" sz="2175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Firebase Authentication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5495925"/>
            <a:ext cx="33337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INTELLIGENCE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62500" y="5562600"/>
            <a:ext cx="11906250" cy="28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3"/>
              </a:lnSpc>
            </a:pPr>
            <a:r>
              <a:rPr lang="en-US" sz="2175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VirusTotal API for external URL context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6734175"/>
            <a:ext cx="33337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WORKFLOW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62500" y="6800850"/>
            <a:ext cx="11906250" cy="28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3"/>
              </a:lnSpc>
            </a:pPr>
            <a:r>
              <a:rPr lang="en-US" sz="2175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Git / GitHub · npm · Visual Studio Code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7972425"/>
            <a:ext cx="33337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DEPLOYMENT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62500" y="8039100"/>
            <a:ext cx="11906250" cy="28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3"/>
              </a:lnSpc>
            </a:pPr>
            <a:r>
              <a:rPr lang="en-US" sz="2175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Vercel · environment-based API key management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9734550"/>
            <a:ext cx="6667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AEGIS / AI-ASSISTED THREAT DETECTION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573500" y="9734550"/>
            <a:ext cx="8001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04825"/>
            <a:ext cx="685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016  /  THREAT INTELLIGENCE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57275"/>
            <a:ext cx="142875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Prototype today. Platform tomorrow.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" y="22669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14400" y="3048000"/>
            <a:ext cx="7715250" cy="5429250"/>
            <a:chOff x="0" y="0"/>
            <a:chExt cx="10287000" cy="723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870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7239000"/>
                  </a:lnTo>
                  <a:lnTo>
                    <a:pt x="0" y="7239000"/>
                  </a:lnTo>
                  <a:close/>
                </a:path>
              </a:pathLst>
            </a:custGeom>
            <a:solidFill>
              <a:srgbClr val="0D1B2D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287000" cy="727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20250" y="3048000"/>
            <a:ext cx="7753350" cy="5429250"/>
            <a:chOff x="0" y="0"/>
            <a:chExt cx="10337800" cy="723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378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337800">
                  <a:moveTo>
                    <a:pt x="0" y="0"/>
                  </a:moveTo>
                  <a:lnTo>
                    <a:pt x="10337800" y="0"/>
                  </a:lnTo>
                  <a:lnTo>
                    <a:pt x="10337800" y="7239000"/>
                  </a:lnTo>
                  <a:lnTo>
                    <a:pt x="0" y="7239000"/>
                  </a:lnTo>
                  <a:close/>
                </a:path>
              </a:pathLst>
            </a:custGeom>
            <a:solidFill>
              <a:srgbClr val="10243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337800" cy="727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28750" y="3533775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FF526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CURRENT LIMITATIONS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8750" y="4410075"/>
            <a:ext cx="6191250" cy="215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2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Deterministic heuristics</a:t>
            </a:r>
          </a:p>
          <a:p>
            <a:pPr algn="l">
              <a:lnSpc>
                <a:spcPts val="3487"/>
              </a:lnSpc>
            </a:pPr>
            <a:r>
              <a:rPr lang="en-US" sz="22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Rule-based scoring</a:t>
            </a:r>
          </a:p>
          <a:p>
            <a:pPr algn="l">
              <a:lnSpc>
                <a:spcPts val="3487"/>
              </a:lnSpc>
            </a:pPr>
            <a:r>
              <a:rPr lang="en-US" sz="22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Simulated modules</a:t>
            </a:r>
          </a:p>
          <a:p>
            <a:pPr algn="l">
              <a:lnSpc>
                <a:spcPts val="3487"/>
              </a:lnSpc>
            </a:pPr>
            <a:r>
              <a:rPr lang="en-US" sz="22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real-time SIEM</a:t>
            </a:r>
          </a:p>
          <a:p>
            <a:pPr algn="l">
              <a:lnSpc>
                <a:spcPts val="3487"/>
              </a:lnSpc>
            </a:pPr>
            <a:r>
              <a:rPr lang="en-US" sz="22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ML anomaly detection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91750" y="3533775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43F0B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PLANNED EVOLUTION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91750" y="4410075"/>
            <a:ext cx="6191250" cy="215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22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Backend API</a:t>
            </a:r>
          </a:p>
          <a:p>
            <a:pPr algn="l">
              <a:lnSpc>
                <a:spcPts val="3487"/>
              </a:lnSpc>
            </a:pPr>
            <a:r>
              <a:rPr lang="en-US" sz="22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Role-based access</a:t>
            </a:r>
          </a:p>
          <a:p>
            <a:pPr algn="l">
              <a:lnSpc>
                <a:spcPts val="3487"/>
              </a:lnSpc>
            </a:pPr>
            <a:r>
              <a:rPr lang="en-US" sz="22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 alerts</a:t>
            </a:r>
          </a:p>
          <a:p>
            <a:pPr algn="l">
              <a:lnSpc>
                <a:spcPts val="3487"/>
              </a:lnSpc>
            </a:pPr>
            <a:r>
              <a:rPr lang="en-US" sz="22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Advanced threat correlation</a:t>
            </a:r>
          </a:p>
          <a:p>
            <a:pPr algn="l">
              <a:lnSpc>
                <a:spcPts val="3487"/>
              </a:lnSpc>
            </a:pPr>
            <a:r>
              <a:rPr lang="en-US" sz="22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Cloud integration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9734550"/>
            <a:ext cx="6667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AEGIS / AI-ASSISTED THREAT DETECTION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73500" y="9734550"/>
            <a:ext cx="8001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5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04825"/>
            <a:ext cx="6858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017  /  THREAT INTELLIGENCE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57275"/>
            <a:ext cx="1428750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435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Clarity becomes an advantage.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" y="2266950"/>
            <a:ext cx="16459200" cy="0"/>
          </a:xfrm>
          <a:prstGeom prst="line">
            <a:avLst/>
          </a:prstGeom>
          <a:ln cap="flat" w="9525">
            <a:solidFill>
              <a:srgbClr val="1C40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14400" y="3143250"/>
            <a:ext cx="7429500" cy="2190750"/>
            <a:chOff x="0" y="0"/>
            <a:chExt cx="9906000" cy="292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06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906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3143250"/>
            <a:ext cx="38100" cy="2190750"/>
            <a:chOff x="0" y="0"/>
            <a:chExt cx="50800" cy="292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35E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8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05900" y="3143250"/>
            <a:ext cx="7429500" cy="2190750"/>
            <a:chOff x="0" y="0"/>
            <a:chExt cx="9906000" cy="292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06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906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05900" y="3143250"/>
            <a:ext cx="38100" cy="2190750"/>
            <a:chOff x="0" y="0"/>
            <a:chExt cx="5080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8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258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08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5810250"/>
            <a:ext cx="7429500" cy="2190750"/>
            <a:chOff x="0" y="0"/>
            <a:chExt cx="9906000" cy="292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06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906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5810250"/>
            <a:ext cx="38100" cy="2190750"/>
            <a:chOff x="0" y="0"/>
            <a:chExt cx="50800" cy="2921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8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8B5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08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05900" y="5810250"/>
            <a:ext cx="7429500" cy="2190750"/>
            <a:chOff x="0" y="0"/>
            <a:chExt cx="9906000" cy="292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06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0D1B2D">
                <a:alpha val="8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906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05900" y="5810250"/>
            <a:ext cx="38100" cy="2190750"/>
            <a:chOff x="0" y="0"/>
            <a:chExt cx="50800" cy="2921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8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43F0B2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08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19200" y="3400425"/>
            <a:ext cx="952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25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43150" y="3505200"/>
            <a:ext cx="5334000" cy="3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2325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ONE SECURITY SURFACE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343150" y="4162425"/>
            <a:ext cx="514350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Centralized multi-input analysis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10700" y="3400425"/>
            <a:ext cx="952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25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534650" y="3505200"/>
            <a:ext cx="5334000" cy="3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2325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EXPLAINABLE RISK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534650" y="4162425"/>
            <a:ext cx="514350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Clear scoring and recommendations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9200" y="6067425"/>
            <a:ext cx="952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25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343150" y="6172200"/>
            <a:ext cx="5334000" cy="3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2325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AI-AUGMENTED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343150" y="6829425"/>
            <a:ext cx="514350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Accessible guidance in context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10700" y="6067425"/>
            <a:ext cx="952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25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534650" y="6172200"/>
            <a:ext cx="5334000" cy="31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2325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BUILT TO EVOLVE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534650" y="6829425"/>
            <a:ext cx="5143500" cy="29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Modular, extensible web architecture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9734550"/>
            <a:ext cx="6667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AEGIS / AI-ASSISTED THREAT DETECTION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73500" y="9734550"/>
            <a:ext cx="8001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7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25500" y="0"/>
            <a:ext cx="19050" cy="10287000"/>
            <a:chOff x="0" y="0"/>
            <a:chExt cx="25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05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7524750"/>
            <a:ext cx="18288000" cy="19050"/>
            <a:chOff x="0" y="0"/>
            <a:chExt cx="24384000" cy="2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25400"/>
            </a:xfrm>
            <a:custGeom>
              <a:avLst/>
              <a:gdLst/>
              <a:ahLst/>
              <a:cxnLst/>
              <a:rect r="r" b="b" t="t" l="l"/>
              <a:pathLst>
                <a:path h="25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C405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9250" y="2095500"/>
            <a:ext cx="3429000" cy="3429000"/>
            <a:chOff x="0" y="0"/>
            <a:chExt cx="4572000" cy="457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720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2588FF">
                <a:alpha val="1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572000" cy="461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82750" y="3429000"/>
            <a:ext cx="2381250" cy="2381250"/>
            <a:chOff x="0" y="0"/>
            <a:chExt cx="3175000" cy="317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5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3175000"/>
                  </a:lnTo>
                  <a:lnTo>
                    <a:pt x="0" y="3175000"/>
                  </a:lnTo>
                  <a:close/>
                </a:path>
              </a:pathLst>
            </a:custGeom>
            <a:solidFill>
              <a:srgbClr val="8B5CFF">
                <a:alpha val="2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175000" cy="321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400" y="1114425"/>
            <a:ext cx="666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71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END OF BRIEFING  /  AEGIS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2981325"/>
            <a:ext cx="11430000" cy="20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95"/>
              </a:lnSpc>
            </a:pPr>
            <a:r>
              <a:rPr lang="en-US" sz="840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THANK YOU FOR</a:t>
            </a:r>
          </a:p>
          <a:p>
            <a:pPr algn="l">
              <a:lnSpc>
                <a:spcPts val="7895"/>
              </a:lnSpc>
            </a:pPr>
            <a:r>
              <a:rPr lang="en-US" sz="8400" b="true">
                <a:solidFill>
                  <a:srgbClr val="F4FBFF"/>
                </a:solidFill>
                <a:latin typeface="Rajdhani Bold"/>
                <a:ea typeface="Rajdhani Bold"/>
                <a:cs typeface="Rajdhani Bold"/>
                <a:sym typeface="Rajdhani Bold"/>
              </a:rPr>
              <a:t>YOUR ATTENTION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0125" y="6153150"/>
            <a:ext cx="8096250" cy="46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850">
                <a:solidFill>
                  <a:srgbClr val="92A9BD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Questions and Discussion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0125" y="8543925"/>
            <a:ext cx="7620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NEXT STEP  /  EXPLORE THE LIVE DASHBOARD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9734550"/>
            <a:ext cx="66675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25" spc="135" b="true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AEGIS / AI-ASSISTED THREAT DETECTION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73500" y="9734550"/>
            <a:ext cx="8001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35E7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